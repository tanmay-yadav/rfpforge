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Master" Target="slideMasters/slideMaster1.xml"/><Relationship Id="rId17" Type="http://schemas.openxmlformats.org/officeDocument/2006/relationships/theme" Target="theme/them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374921_0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374921_0.png"/><Relationship Id="rId3" Type="http://schemas.openxmlformats.org/officeDocument/2006/relationships/image" Target="../media/image_9739829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2860187_0.png"/><Relationship Id="rId3" Type="http://schemas.openxmlformats.org/officeDocument/2006/relationships/image" Target="../media/image_3313231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3644790_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3233626_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545749_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5677596_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2235654_0.png"/><Relationship Id="rId3" Type="http://schemas.openxmlformats.org/officeDocument/2006/relationships/image" Target="../media/image_9074726_1.png"/><Relationship Id="rId4" Type="http://schemas.openxmlformats.org/officeDocument/2006/relationships/image" Target="../media/image_5217380_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2391357_0.png"/><Relationship Id="rId3" Type="http://schemas.openxmlformats.org/officeDocument/2006/relationships/image" Target="../media/image_2923435_1.png"/><Relationship Id="rId4" Type="http://schemas.openxmlformats.org/officeDocument/2006/relationships/image" Target="../media/image_45905_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3077320_0.png"/><Relationship Id="rId3" Type="http://schemas.openxmlformats.org/officeDocument/2006/relationships/image" Target="../media/image_3648258_1.png"/><Relationship Id="rId4" Type="http://schemas.openxmlformats.org/officeDocument/2006/relationships/image" Target="../media/image_1071291_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1555506_0.png"/><Relationship Id="rId3" Type="http://schemas.openxmlformats.org/officeDocument/2006/relationships/image" Target="../media/image_6123737_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RFPForge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AI-powered RFP automation with multi-disease prediction, RAG explanations, SHAP, and calibrated probabilities</a:t>
            </a:r>
          </a:p>
        </p:txBody>
      </p:sp>
      <p:sp>
        <p:nvSpPr>
          <p:cNvPr id="100" name="Text"/>
          <p:cNvSpPr txBox="1"/>
          <p:nvPr/>
        </p:nvSpPr>
        <p:spPr>
          <a:xfrm>
            <a:off x="731520" y="1417320"/>
            <a:ext cx="557784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b="1">
                <a:solidFill>
                  <a:srgbClr val="111827"/>
                </a:solidFill>
              </a:rPr>
              <a:t>Professional Project Presentation</a:t>
            </a:r>
          </a:p>
        </p:txBody>
      </p:sp>
      <p:sp>
        <p:nvSpPr>
          <p:cNvPr id="101" name="Bullets"/>
          <p:cNvSpPr txBox="1"/>
          <p:nvPr/>
        </p:nvSpPr>
        <p:spPr>
          <a:xfrm>
            <a:off x="731520" y="1965960"/>
            <a:ext cx="5486400" cy="201168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FastAPI backend, Streamlit frontend, ChromaDB vector store, local LLM workflow</a:t>
            </a:r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Disease prediction models for diabetes, heart disease, breast cancer, and Parkinson's disease</a:t>
            </a:r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Disease-specific retrieval validation prevents irrelevant medical context generation</a:t>
            </a:r>
          </a:p>
        </p:txBody>
      </p:sp>
      <p:pic>
        <p:nvPicPr>
          <p:cNvPr id="202" name="system_layer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46520" y="1234440"/>
            <a:ext cx="4937760" cy="31525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Project Problem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Manual proposal drafting and raw ML outputs both need grounded, explainable assistance</a:t>
            </a:r>
          </a:p>
        </p:txBody>
      </p:sp>
      <p:sp>
        <p:nvSpPr>
          <p:cNvPr id="300" name="Card"/>
          <p:cNvSpPr/>
          <p:nvPr/>
        </p:nvSpPr>
        <p:spPr>
          <a:xfrm>
            <a:off x="731520" y="1417320"/>
            <a:ext cx="3474720" cy="13258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  <p:txBody>
          <a:bodyPr wrap="square" lIns="171450" tIns="114300" rIns="171450" bIns="114300"/>
          <a:lstStyle/>
          <a:p>
            <a:r>
              <a:rPr lang="en-US" sz="1800">
                <a:solidFill>
                  <a:srgbClr val="111827"/>
                </a:solidFill>
              </a:rPr>
              <a:t>RFP Problem
Teams spend time searching scattered documents, copying clauses, and drafting answers manually.</a:t>
            </a:r>
          </a:p>
        </p:txBody>
      </p:sp>
      <p:sp>
        <p:nvSpPr>
          <p:cNvPr id="301" name="Card"/>
          <p:cNvSpPr/>
          <p:nvPr/>
        </p:nvSpPr>
        <p:spPr>
          <a:xfrm>
            <a:off x="4434840" y="1417320"/>
            <a:ext cx="3474720" cy="13258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  <p:txBody>
          <a:bodyPr wrap="square" lIns="171450" tIns="114300" rIns="171450" bIns="114300"/>
          <a:lstStyle/>
          <a:p>
            <a:r>
              <a:rPr lang="en-US" sz="1800">
                <a:solidFill>
                  <a:srgbClr val="111827"/>
                </a:solidFill>
              </a:rPr>
              <a:t>Healthcare AI Problem
Prediction numbers alone are hard to interpret and can become unsafe if generic medical text is retrieved.</a:t>
            </a:r>
          </a:p>
        </p:txBody>
      </p:sp>
      <p:sp>
        <p:nvSpPr>
          <p:cNvPr id="302" name="Card"/>
          <p:cNvSpPr/>
          <p:nvPr/>
        </p:nvSpPr>
        <p:spPr>
          <a:xfrm>
            <a:off x="8138160" y="1417320"/>
            <a:ext cx="3291840" cy="1325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  <p:txBody>
          <a:bodyPr wrap="square" lIns="171450" tIns="114300" rIns="171450" bIns="114300"/>
          <a:lstStyle/>
          <a:p>
            <a:r>
              <a:rPr lang="en-US" sz="1800">
                <a:solidFill>
                  <a:srgbClr val="111827"/>
                </a:solidFill>
              </a:rPr>
              <a:t>Solution
A single app combines document RAG, structured ML prediction, disease-aware templates, and retrieval validation.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914400" y="3246120"/>
            <a:ext cx="10241280" cy="201168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Goal: make responses faster, more traceable, and easier to understand.</a:t>
            </a:r>
          </a:p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Scope: local educational research system, not a clinical diagnostic device.</a:t>
            </a:r>
          </a:p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Output: usable Streamlit workflows plus reproducible backend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System Architecture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Layered architecture keeps UI, API, RAG, ML, and storage responsibilities clear</a:t>
            </a:r>
          </a:p>
        </p:txBody>
      </p:sp>
      <p:pic>
        <p:nvPicPr>
          <p:cNvPr id="200" name="system_layer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303520" cy="3386093"/>
          </a:xfrm>
          <a:prstGeom prst="rect">
            <a:avLst/>
          </a:prstGeom>
        </p:spPr>
      </p:pic>
      <p:pic>
        <p:nvPicPr>
          <p:cNvPr id="201" name="deployment_view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400800" y="1234440"/>
            <a:ext cx="4937760" cy="2700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RAG Workflow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Documents are loaded, chunked, embedded, retrieved, and converted into grounded responses</a:t>
            </a:r>
          </a:p>
        </p:txBody>
      </p:sp>
      <p:pic>
        <p:nvPicPr>
          <p:cNvPr id="200" name="rag_flow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2950416"/>
          </a:xfrm>
          <a:prstGeom prst="rect">
            <a:avLst/>
          </a:prstGeom>
        </p:spPr>
      </p:pic>
      <p:pic>
        <p:nvPicPr>
          <p:cNvPr id="201" name="ui_rfp_chat_screensho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4983480" cy="29318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Disease Prediction Workflow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Users can use manual feature fields or ordered-list input for exact research samples</a:t>
            </a:r>
          </a:p>
        </p:txBody>
      </p:sp>
      <p:pic>
        <p:nvPicPr>
          <p:cNvPr id="200" name="ui_diabetes_prediction_screensho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212080" cy="3066287"/>
          </a:xfrm>
          <a:prstGeom prst="rect">
            <a:avLst/>
          </a:prstGeom>
        </p:spPr>
      </p:pic>
      <p:sp>
        <p:nvSpPr>
          <p:cNvPr id="101" name="Bullets"/>
          <p:cNvSpPr txBox="1"/>
          <p:nvPr/>
        </p:nvSpPr>
        <p:spPr>
          <a:xfrm>
            <a:off x="6217920" y="1417320"/>
            <a:ext cx="5166360" cy="34747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Registry-driven disease selector and feature form</a:t>
            </a:r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Ordered list parser supports Python-style inputs with comments</a:t>
            </a:r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Prediction response includes probability, confidence, SHAP impacts, and validated guidance</a:t>
            </a:r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Known diseases use disease-aware templates to avoid hallucinated clinical procedures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Ordered Input Example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Breast cancer high-risk sample pasted in the exact feature order</a:t>
            </a:r>
          </a:p>
        </p:txBody>
      </p:sp>
      <p:pic>
        <p:nvPicPr>
          <p:cNvPr id="200" name="ui_breast_ordered_inpu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10789920" cy="6069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Example Prediction Output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The output is what a user would see after applying the sample and running prediction</a:t>
            </a:r>
          </a:p>
        </p:txBody>
      </p:sp>
      <p:pic>
        <p:nvPicPr>
          <p:cNvPr id="200" name="ui_breast_output_exampl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10789920" cy="6069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Retrieval Guardrails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Unrelated ultrasound, fasting, and symptom blocks are rejected before generation</a:t>
            </a:r>
          </a:p>
        </p:txBody>
      </p:sp>
      <p:pic>
        <p:nvPicPr>
          <p:cNvPr id="200" name="retrieval_guardrail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6017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Model Coverage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Current disease models and artifact-backed metrics</a:t>
            </a:r>
          </a:p>
        </p:txBody>
      </p:sp>
      <p:sp>
        <p:nvSpPr>
          <p:cNvPr id="300" name="Card"/>
          <p:cNvSpPr/>
          <p:nvPr/>
        </p:nvSpPr>
        <p:spPr>
          <a:xfrm>
            <a:off x="731520" y="1325880"/>
            <a:ext cx="5029200" cy="160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  <p:txBody>
          <a:bodyPr wrap="square" lIns="171450" tIns="114300" rIns="171450" bIns="114300"/>
          <a:lstStyle/>
          <a:p>
            <a:r>
              <a:rPr lang="en-US" sz="1800">
                <a:solidFill>
                  <a:srgbClr val="111827"/>
                </a:solidFill>
              </a:rPr>
              <a:t>Diabetes
Selected: xgboost
Accuracy: 0.7403
F1: 0.6429
ROC-AUC: 0.8176</a:t>
            </a:r>
          </a:p>
        </p:txBody>
      </p:sp>
      <p:sp>
        <p:nvSpPr>
          <p:cNvPr id="301" name="Card"/>
          <p:cNvSpPr/>
          <p:nvPr/>
        </p:nvSpPr>
        <p:spPr>
          <a:xfrm>
            <a:off x="6309359" y="1325880"/>
            <a:ext cx="5029200" cy="160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  <p:txBody>
          <a:bodyPr wrap="square" lIns="171450" tIns="114300" rIns="171450" bIns="114300"/>
          <a:lstStyle/>
          <a:p>
            <a:r>
              <a:rPr lang="en-US" sz="1800">
                <a:solidFill>
                  <a:srgbClr val="111827"/>
                </a:solidFill>
              </a:rPr>
              <a:t>Heart Disease
Selected: random_forest
Accuracy: 0.8333
F1: 0.8148
ROC-AUC: 0.9420</a:t>
            </a:r>
          </a:p>
        </p:txBody>
      </p:sp>
      <p:sp>
        <p:nvSpPr>
          <p:cNvPr id="302" name="Card"/>
          <p:cNvSpPr/>
          <p:nvPr/>
        </p:nvSpPr>
        <p:spPr>
          <a:xfrm>
            <a:off x="731520" y="3383280"/>
            <a:ext cx="5029200" cy="160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  <p:txBody>
          <a:bodyPr wrap="square" lIns="171450" tIns="114300" rIns="171450" bIns="114300"/>
          <a:lstStyle/>
          <a:p>
            <a:r>
              <a:rPr lang="en-US" sz="1800">
                <a:solidFill>
                  <a:srgbClr val="111827"/>
                </a:solidFill>
              </a:rPr>
              <a:t>Breast Cancer
Selected: logistic_regression
Accuracy: 0.9737
F1: 0.9639
ROC-AUC: 0.9967</a:t>
            </a:r>
          </a:p>
        </p:txBody>
      </p:sp>
      <p:sp>
        <p:nvSpPr>
          <p:cNvPr id="303" name="Card"/>
          <p:cNvSpPr/>
          <p:nvPr/>
        </p:nvSpPr>
        <p:spPr>
          <a:xfrm>
            <a:off x="6309359" y="3383280"/>
            <a:ext cx="5029200" cy="16002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5E7EB"/>
            </a:solidFill>
          </a:ln>
        </p:spPr>
        <p:txBody>
          <a:bodyPr wrap="square" lIns="171450" tIns="114300" rIns="171450" bIns="114300"/>
          <a:lstStyle/>
          <a:p>
            <a:r>
              <a:rPr lang="en-US" sz="1800">
                <a:solidFill>
                  <a:srgbClr val="111827"/>
                </a:solidFill>
              </a:rPr>
              <a:t>Parkinson's
Selected: xgboost
Accuracy: 0.9231
F1: 0.9492
ROC-AUC: 0.9828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Breast Cancer Explainability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SHAP, ROC curve, and confusion matrix support academic explainability</a:t>
            </a:r>
          </a:p>
        </p:txBody>
      </p:sp>
      <p:pic>
        <p:nvPicPr>
          <p:cNvPr id="200" name="shap_summary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3840480" cy="4633671"/>
          </a:xfrm>
          <a:prstGeom prst="rect">
            <a:avLst/>
          </a:prstGeom>
        </p:spPr>
      </p:pic>
      <p:pic>
        <p:nvPicPr>
          <p:cNvPr id="201" name="roc_curv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434840" y="1143000"/>
            <a:ext cx="3566160" cy="2674620"/>
          </a:xfrm>
          <a:prstGeom prst="rect">
            <a:avLst/>
          </a:prstGeom>
        </p:spPr>
      </p:pic>
      <p:pic>
        <p:nvPicPr>
          <p:cNvPr id="202" name="confusion_matrix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046720" y="1143000"/>
            <a:ext cx="3474720" cy="26060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Heart Disease Explainability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Model behavior is reviewed with ROC, confusion matrix, and feature importance</a:t>
            </a:r>
          </a:p>
        </p:txBody>
      </p:sp>
      <p:pic>
        <p:nvPicPr>
          <p:cNvPr id="200" name="feature_importanc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3931920" cy="2621280"/>
          </a:xfrm>
          <a:prstGeom prst="rect">
            <a:avLst/>
          </a:prstGeom>
        </p:spPr>
      </p:pic>
      <p:pic>
        <p:nvPicPr>
          <p:cNvPr id="201" name="roc_curv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343400" y="1188720"/>
            <a:ext cx="3566160" cy="2674620"/>
          </a:xfrm>
          <a:prstGeom prst="rect">
            <a:avLst/>
          </a:prstGeom>
        </p:spPr>
      </p:pic>
      <p:pic>
        <p:nvPicPr>
          <p:cNvPr id="202" name="confusion_matrix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001000" y="1188720"/>
            <a:ext cx="356616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Diabetes Explainability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Legacy and publication-grade diabetes artifacts support comparison and reporting</a:t>
            </a:r>
          </a:p>
        </p:txBody>
      </p:sp>
      <p:pic>
        <p:nvPicPr>
          <p:cNvPr id="200" name="shap_summary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3931920" cy="3129019"/>
          </a:xfrm>
          <a:prstGeom prst="rect">
            <a:avLst/>
          </a:prstGeom>
        </p:spPr>
      </p:pic>
      <p:pic>
        <p:nvPicPr>
          <p:cNvPr id="201" name="roc_curv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389120" y="1143000"/>
            <a:ext cx="3520440" cy="2640329"/>
          </a:xfrm>
          <a:prstGeom prst="rect">
            <a:avLst/>
          </a:prstGeom>
        </p:spPr>
      </p:pic>
      <p:pic>
        <p:nvPicPr>
          <p:cNvPr id="202" name="confusion_matrix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001000" y="1143000"/>
            <a:ext cx="3520440" cy="26403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Testing and API Surface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Focused automated tests protect retrieval, ML contracts, and core API behavior</a:t>
            </a:r>
          </a:p>
        </p:txBody>
      </p:sp>
      <p:pic>
        <p:nvPicPr>
          <p:cNvPr id="200" name="endpoint_cover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754880" cy="3058101"/>
          </a:xfrm>
          <a:prstGeom prst="rect">
            <a:avLst/>
          </a:prstGeom>
        </p:spPr>
      </p:pic>
      <p:pic>
        <p:nvPicPr>
          <p:cNvPr id="201" name="testing_strategy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4754880" cy="30415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Key Improvements Implemented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The publication-strength changes focus on safety, explainability, and credibility</a:t>
            </a:r>
          </a:p>
        </p:txBody>
      </p:sp>
      <p:sp>
        <p:nvSpPr>
          <p:cNvPr id="100" name="Bullets"/>
          <p:cNvSpPr txBox="1"/>
          <p:nvPr/>
        </p:nvSpPr>
        <p:spPr>
          <a:xfrm>
            <a:off x="914400" y="1417320"/>
            <a:ext cx="10424160" cy="41148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400">
                <a:solidFill>
                  <a:srgbClr val="374151"/>
                </a:solidFill>
              </a:rPr>
              <a:t>Semantic retrieval validation with disease-specific constraints</a:t>
            </a:r>
          </a:p>
          <a:p>
            <a:pPr marL="342900" indent="-171450">
              <a:buChar char="•"/>
            </a:pPr>
            <a:r>
              <a:rPr lang="en-US" sz="2400">
                <a:solidFill>
                  <a:srgbClr val="374151"/>
                </a:solidFill>
              </a:rPr>
              <a:t>Disease-aware response templates for breast cancer and other disease models</a:t>
            </a:r>
          </a:p>
          <a:p>
            <a:pPr marL="342900" indent="-171450">
              <a:buChar char="•"/>
            </a:pPr>
            <a:r>
              <a:rPr lang="en-US" sz="2400">
                <a:solidFill>
                  <a:srgbClr val="374151"/>
                </a:solidFill>
              </a:rPr>
              <a:t>SHAP impact table shown in the UI instead of generic medical paragraphs</a:t>
            </a:r>
          </a:p>
          <a:p>
            <a:pPr marL="342900" indent="-171450">
              <a:buChar char="•"/>
            </a:pPr>
            <a:r>
              <a:rPr lang="en-US" sz="2400">
                <a:solidFill>
                  <a:srgbClr val="374151"/>
                </a:solidFill>
              </a:rPr>
              <a:t>CalibratedClassifierCV added to the training pipeline for future artifacts</a:t>
            </a:r>
          </a:p>
          <a:p>
            <a:pPr marL="342900" indent="-171450">
              <a:buChar char="•"/>
            </a:pPr>
            <a:r>
              <a:rPr lang="en-US" sz="2400">
                <a:solidFill>
                  <a:srgbClr val="374151"/>
                </a:solidFill>
              </a:rPr>
              <a:t>Probability display capped at 99.9% and confidence labels added</a:t>
            </a:r>
          </a:p>
          <a:p>
            <a:pPr marL="342900" indent="-171450">
              <a:buChar char="•"/>
            </a:pPr>
            <a:r>
              <a:rPr lang="en-US" sz="2400">
                <a:solidFill>
                  <a:srgbClr val="374151"/>
                </a:solidFill>
              </a:rPr>
              <a:t>Ordered input button supports exact paper/test samples and manual field editing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11827"/>
                </a:solidFill>
              </a:rPr>
              <a:t>Conclusion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7280"/>
                </a:solidFill>
              </a:rPr>
              <a:t>RFPForge is a complete applied AI system, not only a model or a notebook</a:t>
            </a:r>
          </a:p>
        </p:txBody>
      </p:sp>
      <p:sp>
        <p:nvSpPr>
          <p:cNvPr id="300" name="Card"/>
          <p:cNvSpPr/>
          <p:nvPr/>
        </p:nvSpPr>
        <p:spPr>
          <a:xfrm>
            <a:off x="822960" y="1417320"/>
            <a:ext cx="5120640" cy="1828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  <p:txBody>
          <a:bodyPr wrap="square" lIns="171450" tIns="114300" rIns="171450" bIns="114300"/>
          <a:lstStyle/>
          <a:p>
            <a:r>
              <a:rPr lang="en-US" sz="1800">
                <a:solidFill>
                  <a:srgbClr val="111827"/>
                </a:solidFill>
              </a:rPr>
              <a:t>What works
RAG chat, document ingestion, vector search, disease prediction, SHAP display, ordered input, validated guidance.</a:t>
            </a:r>
          </a:p>
        </p:txBody>
      </p:sp>
      <p:sp>
        <p:nvSpPr>
          <p:cNvPr id="301" name="Card"/>
          <p:cNvSpPr/>
          <p:nvPr/>
        </p:nvSpPr>
        <p:spPr>
          <a:xfrm>
            <a:off x="6309360" y="1417320"/>
            <a:ext cx="5120640" cy="1828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  <p:txBody>
          <a:bodyPr wrap="square" lIns="171450" tIns="114300" rIns="171450" bIns="114300"/>
          <a:lstStyle/>
          <a:p>
            <a:r>
              <a:rPr lang="en-US" sz="1800">
                <a:solidFill>
                  <a:srgbClr val="111827"/>
                </a:solidFill>
              </a:rPr>
              <a:t>Future work
External clinical validation, citation previews, authentication, Docker deployment, richer calibration plots, clinician-reviewed content.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914400" y="3886200"/>
            <a:ext cx="10332720" cy="10972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500" b="1">
                <a:solidFill>
                  <a:srgbClr val="111827"/>
                </a:solidFill>
              </a:rPr>
              <a:t>Final message: explainability, retrieval filtering, calibrated probabilities, and disease-aware generation improve the paper more than chasing another 1-2%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FPForge">
  <a:themeElements>
    <a:clrScheme name="Office">
      <a:dk1>
        <a:srgbClr val="111827"/>
      </a:dk1>
      <a:lt1>
        <a:srgbClr val="FFFFFF"/>
      </a:lt1>
      <a:dk2>
        <a:srgbClr val="374151"/>
      </a:dk2>
      <a:lt2>
        <a:srgbClr val="F8FAFC"/>
      </a:lt2>
      <a:accent1>
        <a:srgbClr val="2563EB"/>
      </a:accent1>
      <a:accent2>
        <a:srgbClr val="047857"/>
      </a:accent2>
      <a:accent3>
        <a:srgbClr val="B45309"/>
      </a:accent3>
      <a:accent4>
        <a:srgbClr val="BE123C"/>
      </a:accent4>
      <a:accent5>
        <a:srgbClr val="6D28D9"/>
      </a:accent5>
      <a:accent6>
        <a:srgbClr val="0891B2"/>
      </a:accent6>
      <a:hlink>
        <a:srgbClr val="2563EB"/>
      </a:hlink>
      <a:folHlink>
        <a:srgbClr val="6D28D9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RFPForge PPT Generator</Application>
  <PresentationFormat>On-screen Show (16:9)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RFPForge Project Presentation</dc:title>
  <dc:creator>Codex</dc:creator>
  <cp:lastModifiedBy>Codex</cp:lastModifiedBy>
  <dcterms:created xsi:type="dcterms:W3CDTF">2026-05-06T06:15:37.455278+00:00</dcterms:created>
  <dcterms:modified xsi:type="dcterms:W3CDTF">2026-05-06T06:15:37.455278+00:00</dcterms:modified>
</cp:coreProperties>
</file>